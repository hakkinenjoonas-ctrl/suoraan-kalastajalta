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9492e7626b4c3f" /><Relationship Type="http://schemas.openxmlformats.org/officeDocument/2006/relationships/extended-properties" Target="/docProps/app.xml" Id="Ra177735003184bc9" /><Relationship Type="http://schemas.openxmlformats.org/officeDocument/2006/relationships/officeDocument" Target="/ppt/presentation.xml" Id="Rd6634251096347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212ac959bd4350"/>
  </p:sldMasterIdLst>
  <p:notesMasterIdLst>
    <p:notesMasterId xmlns:r="http://schemas.openxmlformats.org/officeDocument/2006/relationships" r:id="R1de0955eb9be4cef"/>
  </p:notesMasterIdLst>
  <p:sldIdLst>
    <p:sldId xmlns:r="http://schemas.openxmlformats.org/officeDocument/2006/relationships" id="256" r:id="Rfd5b7eb840b14b6e"/>
    <p:sldId xmlns:r="http://schemas.openxmlformats.org/officeDocument/2006/relationships" id="257" r:id="Rcdcfba2538044062"/>
    <p:sldId xmlns:r="http://schemas.openxmlformats.org/officeDocument/2006/relationships" id="258" r:id="Ra64cea9e2e3f47e5"/>
    <p:sldId xmlns:r="http://schemas.openxmlformats.org/officeDocument/2006/relationships" id="259" r:id="R26be9cc1f0c24a1d"/>
    <p:sldId xmlns:r="http://schemas.openxmlformats.org/officeDocument/2006/relationships" id="260" r:id="Rdfbfce14cace4a77"/>
    <p:sldId xmlns:r="http://schemas.openxmlformats.org/officeDocument/2006/relationships" id="261" r:id="R8e5e1c217d2d4c9d"/>
    <p:sldId xmlns:r="http://schemas.openxmlformats.org/officeDocument/2006/relationships" id="262" r:id="R1cebb480c180434f"/>
    <p:sldId xmlns:r="http://schemas.openxmlformats.org/officeDocument/2006/relationships" id="263" r:id="R2705e8f59fd24341"/>
    <p:sldId xmlns:r="http://schemas.openxmlformats.org/officeDocument/2006/relationships" id="264" r:id="R61ed1d5a949b4e2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a320375df547de" /><Relationship Type="http://schemas.openxmlformats.org/officeDocument/2006/relationships/slideMaster" Target="/ppt/slideMasters/slideMaster1.xml" Id="R07212ac959bd4350" /><Relationship Type="http://schemas.openxmlformats.org/officeDocument/2006/relationships/notesMaster" Target="/ppt/notesMasters/notesMaster1.xml" Id="R1de0955eb9be4cef" /><Relationship Type="http://schemas.openxmlformats.org/officeDocument/2006/relationships/presProps" Target="/ppt/presProps.xml" Id="R5ffa304e14c74087" /><Relationship Type="http://schemas.openxmlformats.org/officeDocument/2006/relationships/tableStyles" Target="/ppt/tableStyles.xml" Id="Rbce33e12a2114711" /><Relationship Type="http://schemas.openxmlformats.org/officeDocument/2006/relationships/slide" Target="/ppt/slides/slide1.xml" Id="Rfd5b7eb840b14b6e" /><Relationship Type="http://schemas.openxmlformats.org/officeDocument/2006/relationships/slide" Target="/ppt/slides/slide2.xml" Id="Rcdcfba2538044062" /><Relationship Type="http://schemas.openxmlformats.org/officeDocument/2006/relationships/slide" Target="/ppt/slides/slide3.xml" Id="Ra64cea9e2e3f47e5" /><Relationship Type="http://schemas.openxmlformats.org/officeDocument/2006/relationships/slide" Target="/ppt/slides/slide4.xml" Id="R26be9cc1f0c24a1d" /><Relationship Type="http://schemas.openxmlformats.org/officeDocument/2006/relationships/slide" Target="/ppt/slides/slide5.xml" Id="Rdfbfce14cace4a77" /><Relationship Type="http://schemas.openxmlformats.org/officeDocument/2006/relationships/slide" Target="/ppt/slides/slide6.xml" Id="R8e5e1c217d2d4c9d" /><Relationship Type="http://schemas.openxmlformats.org/officeDocument/2006/relationships/slide" Target="/ppt/slides/slide7.xml" Id="R1cebb480c180434f" /><Relationship Type="http://schemas.openxmlformats.org/officeDocument/2006/relationships/slide" Target="/ppt/slides/slide8.xml" Id="R2705e8f59fd24341" /><Relationship Type="http://schemas.openxmlformats.org/officeDocument/2006/relationships/slide" Target="/ppt/slides/slide9.xml" Id="R61ed1d5a949b4e2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9acf7ad4b448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be59761b194bd1" /><Relationship Type="http://schemas.openxmlformats.org/officeDocument/2006/relationships/notesMaster" Target="/ppt/notesMasters/notesMaster1.xml" Id="R19b3f3ca5d8a4d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8a280e749a483e" /><Relationship Type="http://schemas.openxmlformats.org/officeDocument/2006/relationships/notesMaster" Target="/ppt/notesMasters/notesMaster1.xml" Id="R6021557226f74b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24173354024dbf" /><Relationship Type="http://schemas.openxmlformats.org/officeDocument/2006/relationships/notesMaster" Target="/ppt/notesMasters/notesMaster1.xml" Id="R6db22cda66444e7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6a75334b8d4396" /><Relationship Type="http://schemas.openxmlformats.org/officeDocument/2006/relationships/notesMaster" Target="/ppt/notesMasters/notesMaster1.xml" Id="Rbc21d824dcca41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3dd84d4a8640af" /><Relationship Type="http://schemas.openxmlformats.org/officeDocument/2006/relationships/notesMaster" Target="/ppt/notesMasters/notesMaster1.xml" Id="R42fef7f4b2c34a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ea33f7ffc5741b3" /><Relationship Type="http://schemas.openxmlformats.org/officeDocument/2006/relationships/notesMaster" Target="/ppt/notesMasters/notesMaster1.xml" Id="R8e7e0758cb5847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f9b5021b66d4d96" /><Relationship Type="http://schemas.openxmlformats.org/officeDocument/2006/relationships/notesMaster" Target="/ppt/notesMasters/notesMaster1.xml" Id="Rfa798919adc54a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5e048a62f24876" /><Relationship Type="http://schemas.openxmlformats.org/officeDocument/2006/relationships/notesMaster" Target="/ppt/notesMasters/notesMaster1.xml" Id="R681c8251945b49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eb8124bca124294" /><Relationship Type="http://schemas.openxmlformats.org/officeDocument/2006/relationships/notesMaster" Target="/ppt/notesMasters/notesMaster1.xml" Id="R41679893bf1644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Avaa esitys yhdellä kysymyksellä: miksi sama saalis pitää kirjata useaan kertaan eri tarkoituksiin?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Kerro sovelluksen kokonaisidea ennen yksityiskohtia. Saaliskirjaus on tapahtuma, josta muut toiminnot syntyvät.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https://www.suoraankalastajalta.fi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Painota, että kaupallinen prosessi ei irtoa saaliin alkuperästä: sama erätunnus säilyttää yhteyden pyyntitietoon.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EU:n valvonta-asetuksen perusperiaate on, että kalastus- ja vesiviljelytuotteet ovat jäljitettävissä tuotannon, jalostuksen ja jakelun kaikissa vaiheissa pyynnistä vähittäismyyntiin.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https://eur-lex.europa.eu/legal-content/EN/ALL/?uri=CELEX%3A02009R1224-20260110</a:t>
            </a:r>
          </a:p>
          <a:p xmlns:a="http://schemas.openxmlformats.org/drawingml/2006/main">
            <a:r>
              <a:t>- https://www.ruokavirasto.fi/elintarvikkeet/oppaat/kalastustuoteohje/kalastustuoteohje/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Näytä tarvittaessa oikea etiketti tai skannaa demon QR-koodi. Sovellus erottaa alkuperäisen saaliin ja etiketissä valitun tuotemuodon toisistaan.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Tee rajaus selväksi: nykyinen sovellus valmistelee raportin, mutta ei lähetä sitä viranomaisjärjestelmään. Sisävesikalastuksen ilmoitusvelvollisuus koskee kaupallisia kalastajia ja ilmoituksessa tarvitaan saalis-, alue-, alus-, purkamispaikka- ja pyydystietoja.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https://www.suomi.fi/palvelut/sisavesikalastuksen-saalisilmoitus-ely-keskus/7d747a81-2909-4be9-a8b7-78c019e8c409</a:t>
            </a:r>
          </a:p>
          <a:p xmlns:a="http://schemas.openxmlformats.org/drawingml/2006/main">
            <a:r>
              <a:t>- https://www.suomi.fi/palvelut/verkkosivu/sisavesien-kaupallisen-kalastuksen-paperisen-saalisilmoituslomakkeen-tayttoohje-pdf-elinvoimakeskus/800d3139-9cc0-4bd8-8307-773be1716a1b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Käsitelty tuote ei saa kasvattaa virallisen saaliin määrää uudelleen. Täyttöohjeessa kalasaalis ilmoitetaan perkaamattomana painona.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https://www.suomi.fi/palvelut/verkkosivu/sisavesien-kaupallisen-kalastuksen-paperisen-saalisilmoituslomakkeen-tayttoohje-pdf-elinvoimakeskus/800d3139-9cc0-4bd8-8307-773be1716a1b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Tämä on keskustelun ja pilotin keskeinen kehityskysymys. Sovellus kerää jo tarvittavan ydintiedon; puuttuva osa on viranomaisen hyväksymä tekninen yhteys.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Päätä konkreettiseen kutsuun: kerätään kalastajilta palaute, varmistetaan tietosisältö viranomaisen kanssa ja sovitaan integraation etenemistapa.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db0fa2d614b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821c6cb033f42c7" /><Relationship Type="http://schemas.openxmlformats.org/officeDocument/2006/relationships/slideLayout" Target="/ppt/slideLayouts/slideLayout1.xml" Id="R3dc3e4a0cd75450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c3e4a0cd75450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7331a53c9b4356" /><Relationship Type="http://schemas.openxmlformats.org/officeDocument/2006/relationships/image" Target="/ppt/media/image.png" Id="R7b5fdbab618a46e6" /><Relationship Type="http://schemas.openxmlformats.org/officeDocument/2006/relationships/notesSlide" Target="/ppt/notesSlides/notesSlide1.xml" Id="Re3a90f11d2d14d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f1e8b701341fc" /><Relationship Type="http://schemas.openxmlformats.org/officeDocument/2006/relationships/image" Target="/ppt/media/image2.png" Id="Ra35f8829beb543ee" /><Relationship Type="http://schemas.openxmlformats.org/officeDocument/2006/relationships/notesSlide" Target="/ppt/notesSlides/notesSlide2.xml" Id="Rab7065ab9e894b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9cf8dcf4345e6" /><Relationship Type="http://schemas.openxmlformats.org/officeDocument/2006/relationships/notesSlide" Target="/ppt/notesSlides/notesSlide3.xml" Id="R8ec42740c7e448e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e1ce020a0477c" /><Relationship Type="http://schemas.openxmlformats.org/officeDocument/2006/relationships/notesSlide" Target="/ppt/notesSlides/notesSlide4.xml" Id="Rdbaab775ba1947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63c85f1cfe4abe" /><Relationship Type="http://schemas.openxmlformats.org/officeDocument/2006/relationships/image" Target="/ppt/media/image3.png" Id="R4e76f5a0e2b54881" /><Relationship Type="http://schemas.openxmlformats.org/officeDocument/2006/relationships/notesSlide" Target="/ppt/notesSlides/notesSlide5.xml" Id="R60f8474631024a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a7811acce4966" /><Relationship Type="http://schemas.openxmlformats.org/officeDocument/2006/relationships/notesSlide" Target="/ppt/notesSlides/notesSlide6.xml" Id="Ra1decced60d347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e8a209615d4245" /><Relationship Type="http://schemas.openxmlformats.org/officeDocument/2006/relationships/notesSlide" Target="/ppt/notesSlides/notesSlide7.xml" Id="R83c0868415a449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6ec50c6024741" /><Relationship Type="http://schemas.openxmlformats.org/officeDocument/2006/relationships/notesSlide" Target="/ppt/notesSlides/notesSlide8.xml" Id="R975797ab808b46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0b83ae3624f98" /><Relationship Type="http://schemas.openxmlformats.org/officeDocument/2006/relationships/image" Target="/ppt/media/image4.png" Id="R4dce5f72f4e046b9" /><Relationship Type="http://schemas.openxmlformats.org/officeDocument/2006/relationships/notesSlide" Target="/ppt/notesSlides/notesSlide9.xml" Id="R5ba92276e175469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7E648959-89D2-4F3A-8C46-BB033877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Suoraan Kalastajalta
Jäljitettävyys ja saalisilmoitus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505963D1-2996-4CAC-BA99-74CE2888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KALAPARLAMENTTI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494B4AF-9EB9-4087-8794-D5103E3E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Joonas Häkkinen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5fdbab618a46e6"/>
          <a:stretch xmlns:a="http://schemas.openxmlformats.org/drawingml/2006/main"/>
        </p:blipFill>
        <p:spPr>
          <a:xfrm xmlns:a="http://schemas.openxmlformats.org/drawingml/2006/main">
            <a:off x="10191750" y="4714875"/>
            <a:ext cx="1428750" cy="95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952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FBB3E937-ECDF-4041-BAFC-EF077FB4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EFC76F3-C5F6-4B13-9730-09A7C1B7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Yksi kirjaus käynnistää koko työnkulun</a:t>
            </a:r>
          </a:p>
        </p:txBody>
      </p:sp>
      <p:sp>
        <p:nvSpPr>
          <p:cNvPr id="3" name="Picture-3-4-backing">
            <a:extLst xmlns:a="http://schemas.openxmlformats.org/drawingml/2006/main">
              <a:ext uri="{FF2B5EF4-FFF2-40B4-BE49-F238E27FC236}">
                <a16:creationId xmlns:a16="http://schemas.microsoft.com/office/drawing/2014/main" id="{390B0E1F-D9C5-4E19-91B1-B820AAF2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Google-Shape-534-p58-5">
            <a:extLst xmlns:a="http://schemas.openxmlformats.org/drawingml/2006/main">
              <a:ext uri="{FF2B5EF4-FFF2-40B4-BE49-F238E27FC236}">
                <a16:creationId xmlns:a16="http://schemas.microsoft.com/office/drawing/2014/main" id="{93C91BE0-C207-42C9-8070-60F99A04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Kalastaja kirjaa saaliin kerran.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Sama tieto palvelee saaliskirjanpitoa, erätunnusta, etikettiä, myyntiä, toimitusta, laskutusta ja raportointia.
Tavoite: vähemmän päällekkäistä työtä ja vähemmän virheitä.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f8829beb543ee"/>
          <a:stretch xmlns:a="http://schemas.openxmlformats.org/drawingml/2006/main"/>
        </p:blipFill>
        <p:spPr>
          <a:xfrm xmlns:a="http://schemas.openxmlformats.org/drawingml/2006/main">
            <a:off x="7696933" y="552450"/>
            <a:ext cx="2417885" cy="5238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4215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0211B6B-9058-4C67-B81E-4C124534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FF952F43-8C75-40A8-A020-77F9A786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Saaliserä kulkee sovelluksessa kolmessa vaiheessa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462CFE7C-5303-437D-844B-384142EA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84FDBE2E-6190-4BFA-84A7-75D1DD0E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28692BAE-8B8D-481C-AE4C-CF355819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8097BF13-8352-4C07-A361-69A0ADAF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E04B9DD6-41A2-4D09-B22A-CA244BFD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Saalis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Päivä
Laji ja määrä
Pyyntialue
Pyydys
Purkamispaikka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53B55978-96DF-4D96-8AE9-75208DF9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3C7921F5-E88C-499C-AC47-FC22E890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Erä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Yksilöllinen erätunnus
QR-koodi
Etiketti
Tuotemuoto ja paino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6CDE3CE0-D686-4816-95E2-30CEA101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84B04948-84E0-4F61-A0D5-D061E501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Kauppa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Kiinteä hinta tai huutokauppa
Ostaja
Toimitus
Laskutus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07D2C7B7-47D3-4910-9A2F-0FD4603F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  TUNNISTA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36F82B77-9BFF-46FF-BAFC-344B1743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  KIRJAA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38AB8D4B-F177-43E7-BDA1-E599B35E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  TOIMITA</a:t>
            </a:r>
          </a:p>
        </p:txBody>
      </p:sp>
    </p:spTree>
    <p:extLst>
      <p:ext uri="{BB962C8B-B14F-4D97-AF65-F5344CB8AC3E}">
        <p14:creationId xmlns:p14="http://schemas.microsoft.com/office/powerpoint/2010/main" val="55801744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D5D78C30-3129-4DBF-BE41-8AEC4FCC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DF100043-CA41-41DB-8F65-82CA68C2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Jäljitettävyys yhdistää kalan alkuperän ostajaan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06F46C85-5577-4378-B024-4505EF945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53787123-A5B8-487C-AB2A-958710AD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548B9CB-54F5-4142-9B02-1909B8FB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0B52D803-9977-4E53-B0CC-A66BBE4D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PYYNTI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C101CF1A-AA82-48A0-A228-C610FCC0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ERÄ JA ETIKETTI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032B3576-8A7B-4920-A162-44110D20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OSTAJA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F0420739-349E-40A0-9142-8EAD6C72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Tunniste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Erätunnus ja QR-koodi seuraavat tuotetta. Käsitelty tuote linkittyy alkuperäiseen saaliiseen.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924C20F5-BDEE-4636-8EE8-8861C660C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Alkuperä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Kuka pyysi?
Milloin ja mistä?
Millä pyydyksellä?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05A707B6-7E02-4A03-BFDC-AA0846B49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Luovutus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Kenelle erä myytiin?
Mitä toimitettiin?
Milloin erä vastaanotettiin?</a:t>
            </a:r>
          </a:p>
        </p:txBody>
      </p:sp>
    </p:spTree>
    <p:extLst>
      <p:ext uri="{BB962C8B-B14F-4D97-AF65-F5344CB8AC3E}">
        <p14:creationId xmlns:p14="http://schemas.microsoft.com/office/powerpoint/2010/main" val="11131101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EC9C9F64-D9C6-4044-BD11-FB8E85DC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A596946-CC34-4714-956D-93A67A1A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QR-koodi tekee erätiedosta käytännössä saavutettavan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2A463393-2A9B-43E4-BF9B-92214581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22406"/>
            <a:ext cx="5537168" cy="86515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Erän julkiset tiedot avautuvat ilman kirjautumista. Ostaja voi tarkistaa alkuperän puhelimella.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B44EC284-D269-4D11-B612-5B0B7D76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2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Pyyntipäivä ja -alue</a:t>
            </a:r>
          </a:p>
        </p:txBody>
      </p:sp>
      <p:sp>
        <p:nvSpPr>
          <p:cNvPr id="5" name="Google-Shape-340-p61-6">
            <a:extLst xmlns:a="http://schemas.openxmlformats.org/drawingml/2006/main">
              <a:ext uri="{FF2B5EF4-FFF2-40B4-BE49-F238E27FC236}">
                <a16:creationId xmlns:a16="http://schemas.microsoft.com/office/drawing/2014/main" id="{724F4425-184F-41A5-B3D5-2EDA598C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0151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6" name="TextBox-11-7">
            <a:extLst xmlns:a="http://schemas.openxmlformats.org/drawingml/2006/main">
              <a:ext uri="{FF2B5EF4-FFF2-40B4-BE49-F238E27FC236}">
                <a16:creationId xmlns:a16="http://schemas.microsoft.com/office/drawing/2014/main" id="{969CE8D9-67D3-4EFC-B06B-93843DBF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90279"/>
            <a:ext cx="5537168" cy="28846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Tieto kulkee erän mukana:</a:t>
            </a:r>
          </a:p>
          <a:p xmlns:a="http://schemas.openxmlformats.org/drawingml/2006/main">
            <a:pPr algn="l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etiketissä, QR-koodissa ja kaupallisissa asiakirjoissa.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7380D058-1823-4E5E-802A-6A6D0A443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879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Laji ja tuotemuoto</a:t>
            </a:r>
          </a:p>
        </p:txBody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10C4E2D8-BCE1-4CC0-AE81-BAA5B5878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3624739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9021C68B-9447-48CD-A697-3C238D07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813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Pyydys ja kalastaja</a:t>
            </a:r>
          </a:p>
        </p:txBody>
      </p:sp>
      <p:sp>
        <p:nvSpPr>
          <p:cNvPr id="10" name="Google-Shape-340-p61-11">
            <a:extLst xmlns:a="http://schemas.openxmlformats.org/drawingml/2006/main">
              <a:ext uri="{FF2B5EF4-FFF2-40B4-BE49-F238E27FC236}">
                <a16:creationId xmlns:a16="http://schemas.microsoft.com/office/drawing/2014/main" id="{E01D0666-AB3D-4B83-95AA-6C149F23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2395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1" name="Content-Placeholder-10-12">
            <a:extLst xmlns:a="http://schemas.openxmlformats.org/drawingml/2006/main">
              <a:ext uri="{FF2B5EF4-FFF2-40B4-BE49-F238E27FC236}">
                <a16:creationId xmlns:a16="http://schemas.microsoft.com/office/drawing/2014/main" id="{C089B29E-5DF5-49C6-9B6E-339A6D08B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17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Erätunnus</a:t>
            </a:r>
          </a:p>
        </p:txBody>
      </p:sp>
      <p:sp>
        <p:nvSpPr>
          <p:cNvPr id="12" name="Google-Shape-340-p61-13">
            <a:extLst xmlns:a="http://schemas.openxmlformats.org/drawingml/2006/main">
              <a:ext uri="{FF2B5EF4-FFF2-40B4-BE49-F238E27FC236}">
                <a16:creationId xmlns:a16="http://schemas.microsoft.com/office/drawing/2014/main" id="{F933D3FB-306B-4137-89E5-3167DCBD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4849178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3" name="Content-Placeholder-10-14">
            <a:extLst xmlns:a="http://schemas.openxmlformats.org/drawingml/2006/main">
              <a:ext uri="{FF2B5EF4-FFF2-40B4-BE49-F238E27FC236}">
                <a16:creationId xmlns:a16="http://schemas.microsoft.com/office/drawing/2014/main" id="{9254F6DC-0011-49B8-8C67-98999998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81"/>
            <a:ext cx="3911632" cy="5487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Toimittajan tiedot</a:t>
            </a:r>
          </a:p>
        </p:txBody>
      </p:sp>
      <p:sp>
        <p:nvSpPr>
          <p:cNvPr id="14" name="Google-Shape-340-p61-15">
            <a:extLst xmlns:a="http://schemas.openxmlformats.org/drawingml/2006/main">
              <a:ext uri="{FF2B5EF4-FFF2-40B4-BE49-F238E27FC236}">
                <a16:creationId xmlns:a16="http://schemas.microsoft.com/office/drawing/2014/main" id="{70C29876-A92D-4F42-8C42-222EF4BE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00" y="5471541"/>
            <a:ext cx="212598" cy="212503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76f5a0e2b54881"/>
          <a:stretch xmlns:a="http://schemas.openxmlformats.org/drawingml/2006/main"/>
        </p:blipFill>
        <p:spPr>
          <a:xfrm xmlns:a="http://schemas.openxmlformats.org/drawingml/2006/main">
            <a:off x="762000" y="3302000"/>
            <a:ext cx="2095500" cy="139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7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9FB6E99-9A90-4EC8-BE3D-36AFF7FA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0C5FD3DA-71EE-440A-A5BA-1262DD1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Saalisilmoitus valmistuu, mutta ei vielä lähde automaattisesti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5909DCD-A814-4F05-A96E-F480E6B3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Sovellus kerää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Pyyntipäivän
Kalalajin ja määrän
Kalastamisalueen
Aluksen tunnuksen
Purkamispaikan
Pyydyksen ja pyyntiajan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B846127B-272C-4646-B20D-5CDE2FE9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Sovellus valmistelee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Sisävesien virallisen raportin
Rannikkokalastuksen koosteen
Excel-viennin ja sähköpostituksen
Kalastaja tarkistaa tiedot ja tekee varsinaisen ilmoituksen virallisessa palvelussa.</a:t>
            </a:r>
          </a:p>
        </p:txBody>
      </p:sp>
    </p:spTree>
    <p:extLst>
      <p:ext uri="{BB962C8B-B14F-4D97-AF65-F5344CB8AC3E}">
        <p14:creationId xmlns:p14="http://schemas.microsoft.com/office/powerpoint/2010/main" val="55296122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868C527-D1EE-499D-A77C-8AEDA668E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7FB8E24E-7003-45EB-9515-999ED2F0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128301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Virallinen saalis ja myyntituote pidetään erillään</a:t>
            </a:r>
          </a:p>
        </p:txBody>
      </p:sp>
      <p:sp>
        <p:nvSpPr>
          <p:cNvPr id="3" name="Rounded-Rectangle-9-4">
            <a:extLst xmlns:a="http://schemas.openxmlformats.org/drawingml/2006/main">
              <a:ext uri="{FF2B5EF4-FFF2-40B4-BE49-F238E27FC236}">
                <a16:creationId xmlns:a16="http://schemas.microsoft.com/office/drawing/2014/main" id="{4D59DA0E-2DCD-4F2F-B784-775D480F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2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Rounded-Rectangle-10-5">
            <a:extLst xmlns:a="http://schemas.openxmlformats.org/drawingml/2006/main">
              <a:ext uri="{FF2B5EF4-FFF2-40B4-BE49-F238E27FC236}">
                <a16:creationId xmlns:a16="http://schemas.microsoft.com/office/drawing/2014/main" id="{51648355-A734-4A91-AAC4-3EE72DEA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73B1ACD-02E9-45BC-9869-954A61FE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16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VIRALLINEN RAPORTTI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Muikku 200 kg
Perkaamattomana painona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7B981D8-5327-45F1-97C3-80AA657C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11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ETIKETTI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Muikku, perattu
10 kg
Sama alkuperäinen erätunnus</a:t>
            </a:r>
          </a:p>
        </p:txBody>
      </p:sp>
      <p:sp>
        <p:nvSpPr>
          <p:cNvPr id="7" name="Google-Shape-340-p61-8">
            <a:extLst xmlns:a="http://schemas.openxmlformats.org/drawingml/2006/main">
              <a:ext uri="{FF2B5EF4-FFF2-40B4-BE49-F238E27FC236}">
                <a16:creationId xmlns:a16="http://schemas.microsoft.com/office/drawing/2014/main" id="{6AA2A1B4-B906-461C-911C-1507CB14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26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8" name="Google-Shape-340-p61-9">
            <a:extLst xmlns:a="http://schemas.openxmlformats.org/drawingml/2006/main">
              <a:ext uri="{FF2B5EF4-FFF2-40B4-BE49-F238E27FC236}">
                <a16:creationId xmlns:a16="http://schemas.microsoft.com/office/drawing/2014/main" id="{444CA71C-99C4-4B2B-8D8D-CBC4B07B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57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9" name="Rounded-Rectangle-5-10">
            <a:extLst xmlns:a="http://schemas.openxmlformats.org/drawingml/2006/main">
              <a:ext uri="{FF2B5EF4-FFF2-40B4-BE49-F238E27FC236}">
                <a16:creationId xmlns:a16="http://schemas.microsoft.com/office/drawing/2014/main" id="{7B69CED2-0B55-479B-8E6D-2F865FCC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334" y="3365468"/>
            <a:ext cx="3568732" cy="2628900"/>
          </a:xfrm>
          <a:prstGeom xmlns:a="http://schemas.openxmlformats.org/drawingml/2006/main" prst="roundRect">
            <a:avLst>
              <a:gd name="adj" fmla="val 289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2ECF8AB7-16E2-4A72-9C3E-DDADBACC0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135" y="4146137"/>
            <a:ext cx="2949321" cy="143284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SAMA ALKUPERÄ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Tuotemuoto vaihtuu.
Erätunnus ja QR-koodi säilyvät.</a:t>
            </a:r>
          </a:p>
        </p:txBody>
      </p:sp>
      <p:sp>
        <p:nvSpPr>
          <p:cNvPr id="11" name="Google-Shape-340-p61-12">
            <a:extLst xmlns:a="http://schemas.openxmlformats.org/drawingml/2006/main">
              <a:ext uri="{FF2B5EF4-FFF2-40B4-BE49-F238E27FC236}">
                <a16:creationId xmlns:a16="http://schemas.microsoft.com/office/drawing/2014/main" id="{3EC48D2B-7507-4846-A34E-2B4CF7B2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041" y="3694081"/>
            <a:ext cx="233839" cy="233744"/>
          </a:xfrm>
          <a:custGeom xmlns:a="http://schemas.openxmlformats.org/drawingml/2006/main">
            <a:pathLst>
              <a:path w="205740000" h="205740000">
                <a:moveTo>
                  <a:pt x="102870000" y="20574000"/>
                </a:moveTo>
                <a:cubicBezTo>
                  <a:pt x="57426225" y="20574000"/>
                  <a:pt x="20574000" y="57426225"/>
                  <a:pt x="20574000" y="102870000"/>
                </a:cubicBezTo>
                <a:cubicBezTo>
                  <a:pt x="20574000" y="148313775"/>
                  <a:pt x="57426225" y="185166000"/>
                  <a:pt x="102870000" y="185166000"/>
                </a:cubicBezTo>
                <a:cubicBezTo>
                  <a:pt x="148313775" y="185166000"/>
                  <a:pt x="185166000" y="148313775"/>
                  <a:pt x="185166000" y="102870000"/>
                </a:cubicBezTo>
                <a:cubicBezTo>
                  <a:pt x="185166000" y="57426225"/>
                  <a:pt x="148313775" y="20574000"/>
                  <a:pt x="102870000" y="20574000"/>
                </a:cubicBezTo>
                <a:close/>
                <a:moveTo>
                  <a:pt x="0" y="102870000"/>
                </a:moveTo>
                <a:cubicBezTo>
                  <a:pt x="0" y="46053375"/>
                  <a:pt x="46053375" y="0"/>
                  <a:pt x="102870000" y="0"/>
                </a:cubicBezTo>
                <a:cubicBezTo>
                  <a:pt x="159686625" y="0"/>
                  <a:pt x="205740000" y="46053375"/>
                  <a:pt x="205740000" y="102870000"/>
                </a:cubicBezTo>
                <a:cubicBezTo>
                  <a:pt x="205740000" y="159686625"/>
                  <a:pt x="159686625" y="205740000"/>
                  <a:pt x="102870000" y="205740000"/>
                </a:cubicBezTo>
                <a:cubicBezTo>
                  <a:pt x="46053375" y="205740000"/>
                  <a:pt x="0" y="159686625"/>
                  <a:pt x="0" y="102870000"/>
                </a:cubicBezTo>
                <a:close/>
                <a:moveTo>
                  <a:pt x="144789525" y="61026675"/>
                </a:moveTo>
                <a:cubicBezTo>
                  <a:pt x="149437725" y="64293750"/>
                  <a:pt x="150561675" y="70713600"/>
                  <a:pt x="147285075" y="75352275"/>
                </a:cubicBezTo>
                <a:lnTo>
                  <a:pt x="98421825" y="144789525"/>
                </a:lnTo>
                <a:cubicBezTo>
                  <a:pt x="96621600" y="147351750"/>
                  <a:pt x="93764100" y="148942425"/>
                  <a:pt x="90649425" y="149142450"/>
                </a:cubicBezTo>
                <a:cubicBezTo>
                  <a:pt x="87534750" y="149332950"/>
                  <a:pt x="84496275" y="148104225"/>
                  <a:pt x="82400775" y="145799175"/>
                </a:cubicBezTo>
                <a:lnTo>
                  <a:pt x="56683275" y="117509925"/>
                </a:lnTo>
                <a:cubicBezTo>
                  <a:pt x="52863750" y="113299875"/>
                  <a:pt x="53178075" y="106803825"/>
                  <a:pt x="57369075" y="102974775"/>
                </a:cubicBezTo>
                <a:cubicBezTo>
                  <a:pt x="61579125" y="99155250"/>
                  <a:pt x="68075175" y="99469575"/>
                  <a:pt x="71904225" y="103660575"/>
                </a:cubicBezTo>
                <a:lnTo>
                  <a:pt x="88982550" y="122453400"/>
                </a:lnTo>
                <a:lnTo>
                  <a:pt x="130463925" y="63522225"/>
                </a:lnTo>
                <a:cubicBezTo>
                  <a:pt x="133731000" y="58874025"/>
                  <a:pt x="140150850" y="57750075"/>
                  <a:pt x="144789525" y="6102667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</p:spPr>
      </p:sp>
      <p:sp>
        <p:nvSpPr>
          <p:cNvPr id="12" name="Content-Placeholder-15-13">
            <a:extLst xmlns:a="http://schemas.openxmlformats.org/drawingml/2006/main">
              <a:ext uri="{FF2B5EF4-FFF2-40B4-BE49-F238E27FC236}">
                <a16:creationId xmlns:a16="http://schemas.microsoft.com/office/drawing/2014/main" id="{8B0F217C-5FEC-444C-8648-5443959E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50562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Esimerkki: 200 kg muikkua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Kalastaja kirjaa saaliiksi 200 kg kokonaista muikkua.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Osa voidaan myöhemmin myydä perattuna tai fileoituna.</a:t>
            </a:r>
          </a:p>
        </p:txBody>
      </p:sp>
    </p:spTree>
    <p:extLst>
      <p:ext uri="{BB962C8B-B14F-4D97-AF65-F5344CB8AC3E}">
        <p14:creationId xmlns:p14="http://schemas.microsoft.com/office/powerpoint/2010/main" val="152311704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45B127E-7479-446D-A5CF-74F7B76FE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F8B6C25E-F331-4B47-8D04-4D0CC37B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Seuraava askel on suora rajapinta viranomaisjärjestelmään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F1B348BA-D5E9-4871-8BA7-5F94986A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Nyt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Tiedot kerätään rakenteisesti
Raportti muodostuu sovelluksessa
Kalastaja tarkistaa ja siirtää tiedot viralliseen palveluun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7741E31B-6F48-4362-A0E3-F08BB45D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Tavoite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Rajapinta tai hyväksytty integraatio
Vahva tunnistautuminen
Testiympäristö ja tekninen dokumentaatio
Kuittaus onnistuneesta lähetyksestä</a:t>
            </a:r>
          </a:p>
        </p:txBody>
      </p:sp>
    </p:spTree>
    <p:extLst>
      <p:ext uri="{BB962C8B-B14F-4D97-AF65-F5344CB8AC3E}">
        <p14:creationId xmlns:p14="http://schemas.microsoft.com/office/powerpoint/2010/main" val="34448534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-3-1">
            <a:extLst xmlns:a="http://schemas.openxmlformats.org/drawingml/2006/main">
              <a:ext uri="{FF2B5EF4-FFF2-40B4-BE49-F238E27FC236}">
                <a16:creationId xmlns:a16="http://schemas.microsoft.com/office/drawing/2014/main" id="{6D082CB7-BE36-485F-90FC-E5E11393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Tehdään ilmoittamisesta
osa samaa työnkulkua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5EE3DA9-432E-4778-B6C4-BD64A58C9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Mitä tietoa vielä puuttuu?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Miten rajapinta avataan?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Ketkä lähtevät pilottiin?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31F5B930-E3DE-4B09-AFE3-33E114DD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YHDESSÄ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ce5f72f4e046b9"/>
          <a:stretch xmlns:a="http://schemas.openxmlformats.org/drawingml/2006/main"/>
        </p:blipFill>
        <p:spPr>
          <a:xfrm xmlns:a="http://schemas.openxmlformats.org/drawingml/2006/main">
            <a:off x="9810750" y="4191000"/>
            <a:ext cx="1714500" cy="114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9054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2026-08-07T16:45:02.3550000Z</dcterms:created>
  <dcterms:modified xsi:type="dcterms:W3CDTF">2026-08-07T16:45:02.3550000Z</dcterms:modified>
</coreProperties>
</file>